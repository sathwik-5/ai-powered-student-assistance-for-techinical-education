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Poppins Semi-Bold" charset="0"/>
      <p:regular r:id="rId13"/>
    </p:embeddedFont>
    <p:embeddedFont>
      <p:font typeface="Times New Roman Bold" pitchFamily="18" charset="0"/>
      <p:bold r:id="rId14"/>
    </p:embeddedFont>
    <p:embeddedFont>
      <p:font typeface="Calibri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-81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73D7C-408D-4884-A7A5-F02A275E8212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53ABE-1F6B-47D2-8E55-D2DA6B9A43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611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953ABE-1F6B-47D2-8E55-D2DA6B9A436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35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3.png"/><Relationship Id="rId7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jp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43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14197" y="457290"/>
            <a:ext cx="5292017" cy="1678847"/>
          </a:xfrm>
          <a:custGeom>
            <a:avLst/>
            <a:gdLst/>
            <a:ahLst/>
            <a:cxnLst/>
            <a:rect l="l" t="t" r="r" b="b"/>
            <a:pathLst>
              <a:path w="5292017" h="1678847">
                <a:moveTo>
                  <a:pt x="0" y="0"/>
                </a:moveTo>
                <a:lnTo>
                  <a:pt x="5292017" y="0"/>
                </a:lnTo>
                <a:lnTo>
                  <a:pt x="5292017" y="1678846"/>
                </a:lnTo>
                <a:lnTo>
                  <a:pt x="0" y="1678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4368" y="302299"/>
            <a:ext cx="3042518" cy="1452802"/>
          </a:xfrm>
          <a:custGeom>
            <a:avLst/>
            <a:gdLst/>
            <a:ahLst/>
            <a:cxnLst/>
            <a:rect l="l" t="t" r="r" b="b"/>
            <a:pathLst>
              <a:path w="3042518" h="1452802">
                <a:moveTo>
                  <a:pt x="0" y="0"/>
                </a:moveTo>
                <a:lnTo>
                  <a:pt x="3042518" y="0"/>
                </a:lnTo>
                <a:lnTo>
                  <a:pt x="3042518" y="1452802"/>
                </a:lnTo>
                <a:lnTo>
                  <a:pt x="0" y="145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19591" y="302299"/>
            <a:ext cx="1868213" cy="1868213"/>
          </a:xfrm>
          <a:custGeom>
            <a:avLst/>
            <a:gdLst/>
            <a:ahLst/>
            <a:cxnLst/>
            <a:rect l="l" t="t" r="r" b="b"/>
            <a:pathLst>
              <a:path w="1868213" h="1868213">
                <a:moveTo>
                  <a:pt x="0" y="0"/>
                </a:moveTo>
                <a:lnTo>
                  <a:pt x="1868213" y="0"/>
                </a:lnTo>
                <a:lnTo>
                  <a:pt x="1868213" y="1868213"/>
                </a:lnTo>
                <a:lnTo>
                  <a:pt x="0" y="1868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38200" y="3202933"/>
            <a:ext cx="17449800" cy="6924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426"/>
              </a:lnSpc>
            </a:pPr>
            <a:endParaRPr dirty="0"/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•Problem Statement Title </a:t>
            </a:r>
            <a:r>
              <a:rPr lang="en-US" sz="2997" b="1" dirty="0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–AI Powered Student Assistance for Technical Education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•Theme </a:t>
            </a:r>
            <a:r>
              <a:rPr lang="en-US" sz="2997" b="1" dirty="0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-Education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ID </a:t>
            </a:r>
            <a:r>
              <a:rPr lang="en-US" sz="2997" b="1" dirty="0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–GNAMAS20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Name (Registered on Website) </a:t>
            </a:r>
            <a:r>
              <a:rPr lang="en-US" sz="2997" b="1" dirty="0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-Masterminds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•Participant Names </a:t>
            </a:r>
            <a:r>
              <a:rPr lang="en-US" sz="2997" b="1" dirty="0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–</a:t>
            </a:r>
            <a:r>
              <a:rPr lang="en-US" sz="2997" b="1" dirty="0" err="1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N.GnanaSathwik</a:t>
            </a:r>
            <a:endParaRPr lang="en-US" sz="2997" b="1" dirty="0" smtClean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997" b="1" dirty="0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             </a:t>
            </a:r>
            <a:r>
              <a:rPr lang="en-US" sz="2997" b="1" dirty="0" err="1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S.Jashnavi</a:t>
            </a:r>
            <a:endParaRPr lang="en-US" sz="2997" b="1" dirty="0" smtClean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997" b="1" dirty="0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             </a:t>
            </a:r>
            <a:r>
              <a:rPr lang="en-US" sz="2997" b="1" dirty="0" err="1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T.Rishitha</a:t>
            </a:r>
            <a:endParaRPr lang="en-US" sz="2997" b="1" dirty="0" smtClean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997" b="1" dirty="0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             </a:t>
            </a:r>
            <a:r>
              <a:rPr lang="en-US" sz="2997" b="1" dirty="0" err="1" smtClean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V.Akhila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42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34074" y="1485900"/>
            <a:ext cx="6730981" cy="296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</a:pPr>
            <a:endParaRPr dirty="0"/>
          </a:p>
          <a:p>
            <a:pPr algn="ctr">
              <a:lnSpc>
                <a:spcPts val="7615"/>
              </a:lnSpc>
              <a:spcBef>
                <a:spcPct val="0"/>
              </a:spcBef>
            </a:pPr>
            <a:r>
              <a:rPr lang="en-US" sz="543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543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21979" y="9794298"/>
            <a:ext cx="1107645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44036" y="1018927"/>
            <a:ext cx="6988739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5773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Masterminds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-2642449" y="2058082"/>
            <a:ext cx="12496443" cy="63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2"/>
              </a:lnSpc>
              <a:spcBef>
                <a:spcPct val="0"/>
              </a:spcBef>
            </a:pPr>
            <a:r>
              <a:rPr lang="en-US" sz="386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</a:t>
            </a:r>
            <a:r>
              <a:rPr lang="en-US" sz="3865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Solution:</a:t>
            </a:r>
            <a:endParaRPr lang="en-US" sz="3865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3673" y="3009900"/>
            <a:ext cx="17037127" cy="5655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301"/>
              </a:lnSpc>
            </a:pP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  Reduces 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stress 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overload.</a:t>
            </a:r>
          </a:p>
          <a:p>
            <a:pPr marL="571500" indent="-571500">
              <a:lnSpc>
                <a:spcPts val="6301"/>
              </a:lnSpc>
              <a:buFont typeface="Arial" pitchFamily="34" charset="0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Sends notifications for assignment deadlines, exam schedules, projects and also academic 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reminders.</a:t>
            </a:r>
          </a:p>
          <a:p>
            <a:pPr marL="571500" indent="-571500">
              <a:lnSpc>
                <a:spcPts val="6301"/>
              </a:lnSpc>
              <a:buFont typeface="Arial" pitchFamily="34" charset="0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 </a:t>
            </a:r>
            <a:r>
              <a:rPr lang="en-US" sz="3865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guidence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provided to learn more about their 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perspective.</a:t>
            </a:r>
          </a:p>
          <a:p>
            <a:pPr marL="571500" indent="-571500">
              <a:lnSpc>
                <a:spcPts val="6301"/>
              </a:lnSpc>
              <a:buFont typeface="Arial" pitchFamily="34" charset="0"/>
              <a:buChar char="•"/>
            </a:pP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Recommends 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curated videos, e-books, and online courses based on the student’s academic profile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indent="-571500">
              <a:lnSpc>
                <a:spcPts val="6301"/>
              </a:lnSpc>
              <a:buFont typeface="Arial" pitchFamily="34" charset="0"/>
              <a:buChar char="•"/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24/7 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for the site.</a:t>
            </a: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1124" y="640956"/>
            <a:ext cx="9226960" cy="10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 dirty="0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</a:t>
            </a:r>
            <a:r>
              <a:rPr lang="en-US" sz="1865" b="1" dirty="0" err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Indu</a:t>
            </a:r>
            <a:r>
              <a:rPr lang="en-US" sz="1865" b="1" dirty="0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College of </a:t>
            </a:r>
            <a:r>
              <a:rPr lang="en-US" sz="1865" b="1" dirty="0" err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Engg</a:t>
            </a:r>
            <a:r>
              <a:rPr lang="en-US" sz="1865" b="1" dirty="0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Masterminds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3628287"/>
            <a:ext cx="17133472" cy="2423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 </a:t>
            </a:r>
            <a:r>
              <a:rPr lang="en-US" sz="3865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HTML/</a:t>
            </a:r>
            <a:r>
              <a:rPr lang="en-US" sz="3865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indent="-571500" algn="l">
              <a:lnSpc>
                <a:spcPts val="6301"/>
              </a:lnSpc>
              <a:buFont typeface="Arial" pitchFamily="34" charset="0"/>
              <a:buChar char="•"/>
            </a:pPr>
            <a:r>
              <a:rPr lang="en-US" sz="3865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Python/</a:t>
            </a:r>
            <a:r>
              <a:rPr lang="en-US" sz="3865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Django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629414"/>
            <a:ext cx="5867400" cy="8801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629414"/>
            <a:ext cx="4953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/>
              <a:t>Block Diagram</a:t>
            </a:r>
          </a:p>
        </p:txBody>
      </p:sp>
      <p:sp>
        <p:nvSpPr>
          <p:cNvPr id="7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2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 dirty="0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</a:t>
            </a:r>
            <a:r>
              <a:rPr lang="en-US" sz="1865" b="1" dirty="0" err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Indu</a:t>
            </a:r>
            <a:r>
              <a:rPr lang="en-US" sz="1865" b="1" dirty="0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College of </a:t>
            </a:r>
            <a:r>
              <a:rPr lang="en-US" sz="1865" b="1" dirty="0" err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Engg</a:t>
            </a:r>
            <a:r>
              <a:rPr lang="en-US" sz="1865" b="1" dirty="0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&amp; Tech - Cyber Club, Department of Cyber Security</a:t>
            </a:r>
          </a:p>
        </p:txBody>
      </p:sp>
    </p:spTree>
    <p:extLst>
      <p:ext uri="{BB962C8B-B14F-4D97-AF65-F5344CB8AC3E}">
        <p14:creationId xmlns:p14="http://schemas.microsoft.com/office/powerpoint/2010/main" val="408797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766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63326" y="187021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6856" y="0"/>
            <a:ext cx="10590345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8719" y="9794298"/>
            <a:ext cx="106037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8499" y="605760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Masterminds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2799" y="1088141"/>
            <a:ext cx="17346821" cy="854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7411"/>
              </a:lnSpc>
              <a:buFont typeface="Arial" pitchFamily="34" charset="0"/>
              <a:buChar char="•"/>
            </a:pPr>
            <a:r>
              <a:rPr lang="en-US" sz="36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FeasibilityUses</a:t>
            </a: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AI tools (e.g.,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OpenAI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Dialogflow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Rasa</a:t>
            </a: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571500" indent="-571500">
              <a:lnSpc>
                <a:spcPts val="7411"/>
              </a:lnSpc>
              <a:buFont typeface="Arial" pitchFamily="34" charset="0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Easily 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with student portals and </a:t>
            </a: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systems.</a:t>
            </a:r>
          </a:p>
          <a:p>
            <a:pPr marL="571500" indent="-571500">
              <a:lnSpc>
                <a:spcPts val="7411"/>
              </a:lnSpc>
              <a:buFont typeface="Arial" pitchFamily="34" charset="0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platforms like web, mobile,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WhatsApp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etc</a:t>
            </a: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indent="-571500">
              <a:lnSpc>
                <a:spcPts val="7411"/>
              </a:lnSpc>
              <a:buFont typeface="Arial" pitchFamily="34" charset="0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privacy and security with standard protocols</a:t>
            </a: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indent="-571500">
              <a:lnSpc>
                <a:spcPts val="7411"/>
              </a:lnSpc>
              <a:buFont typeface="Arial" pitchFamily="34" charset="0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Viability Meets 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growing demand for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EdTech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digital student support</a:t>
            </a: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indent="-571500">
              <a:lnSpc>
                <a:spcPts val="7411"/>
              </a:lnSpc>
              <a:buFont typeface="Arial" pitchFamily="34" charset="0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24/7 help, improving student satisfaction and access</a:t>
            </a: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indent="-571500">
              <a:lnSpc>
                <a:spcPts val="7411"/>
              </a:lnSpc>
              <a:buFont typeface="Arial" pitchFamily="34" charset="0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workload on faculty and administrative staff</a:t>
            </a: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indent="-571500">
              <a:lnSpc>
                <a:spcPts val="7411"/>
              </a:lnSpc>
              <a:buFont typeface="Arial" pitchFamily="34" charset="0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cost; scalable with cloud-based tools</a:t>
            </a: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indent="-571500">
              <a:lnSpc>
                <a:spcPts val="7411"/>
              </a:lnSpc>
              <a:buFont typeface="Arial" pitchFamily="34" charset="0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sustainability through user feedback </a:t>
            </a:r>
            <a:r>
              <a:rPr lang="en-US" sz="3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updates.</a:t>
            </a:r>
            <a:endParaRPr lang="en-US" sz="3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7176" y="-227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82043" y="304794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7070" y="85485"/>
            <a:ext cx="8879582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3860" y="9794298"/>
            <a:ext cx="1017605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4938" y="521218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Masterminds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7743" y="1124640"/>
            <a:ext cx="16460371" cy="8592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3"/>
              </a:lnSpc>
            </a:pP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 Reduces </a:t>
            </a: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workload on academic staff and help desks</a:t>
            </a: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411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1500" indent="-571500">
              <a:lnSpc>
                <a:spcPts val="6713"/>
              </a:lnSpc>
              <a:buFont typeface="Arial" pitchFamily="34" charset="0"/>
              <a:buChar char="•"/>
            </a:pP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</a:t>
            </a: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24/7 support and guidance.</a:t>
            </a:r>
          </a:p>
          <a:p>
            <a:pPr marL="571500" indent="-571500">
              <a:lnSpc>
                <a:spcPts val="6713"/>
              </a:lnSpc>
              <a:buFont typeface="Arial" pitchFamily="34" charset="0"/>
              <a:buChar char="•"/>
            </a:pP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</a:t>
            </a: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data-driven improvements in academic communication</a:t>
            </a: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indent="-571500">
              <a:lnSpc>
                <a:spcPts val="6713"/>
              </a:lnSpc>
              <a:buFont typeface="Arial" pitchFamily="34" charset="0"/>
              <a:buChar char="•"/>
            </a:pP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 </a:t>
            </a: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answers to student queries anytime.</a:t>
            </a:r>
          </a:p>
          <a:p>
            <a:pPr marL="571500" indent="-571500">
              <a:lnSpc>
                <a:spcPts val="6713"/>
              </a:lnSpc>
              <a:buFont typeface="Arial" pitchFamily="34" charset="0"/>
              <a:buChar char="•"/>
            </a:pP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</a:t>
            </a: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based on academic profile.</a:t>
            </a:r>
          </a:p>
          <a:p>
            <a:pPr marL="571500" indent="-571500">
              <a:lnSpc>
                <a:spcPts val="6713"/>
              </a:lnSpc>
              <a:buFont typeface="Arial" pitchFamily="34" charset="0"/>
              <a:buChar char="•"/>
            </a:pP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</a:t>
            </a: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engagement through reminders and suggestions.</a:t>
            </a:r>
          </a:p>
          <a:p>
            <a:pPr marL="571500" indent="-571500">
              <a:lnSpc>
                <a:spcPts val="6713"/>
              </a:lnSpc>
              <a:buFont typeface="Arial" pitchFamily="34" charset="0"/>
              <a:buChar char="•"/>
            </a:pP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</a:t>
            </a: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workload for faculty and admin staff</a:t>
            </a: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indent="-571500">
              <a:lnSpc>
                <a:spcPts val="6713"/>
              </a:lnSpc>
              <a:buFont typeface="Arial" pitchFamily="34" charset="0"/>
              <a:buChar char="•"/>
            </a:pP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</a:t>
            </a: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hub for academic updates.</a:t>
            </a:r>
          </a:p>
          <a:p>
            <a:pPr marL="571500" indent="-571500">
              <a:lnSpc>
                <a:spcPts val="6713"/>
              </a:lnSpc>
              <a:buFont typeface="Arial" pitchFamily="34" charset="0"/>
              <a:buChar char="•"/>
            </a:pP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Encourages </a:t>
            </a: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self-learning with resource recommendations.</a:t>
            </a:r>
          </a:p>
          <a:p>
            <a:pPr marL="571500" indent="-571500">
              <a:lnSpc>
                <a:spcPts val="6713"/>
              </a:lnSpc>
              <a:buFont typeface="Arial" pitchFamily="34" charset="0"/>
              <a:buChar char="•"/>
            </a:pP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</a:t>
            </a: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 to improve institutional services</a:t>
            </a:r>
            <a:r>
              <a:rPr lang="en-US" sz="4118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411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82112" y="455527"/>
            <a:ext cx="11323776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5994" y="9794298"/>
            <a:ext cx="103786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Masterminds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28800" y="2324100"/>
            <a:ext cx="12809355" cy="389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l">
              <a:lnSpc>
                <a:spcPts val="7605"/>
              </a:lnSpc>
              <a:buFont typeface="Arial" pitchFamily="34" charset="0"/>
              <a:buChar char="•"/>
            </a:pPr>
            <a:r>
              <a:rPr lang="en-US" sz="4665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Chatgpt</a:t>
            </a:r>
            <a:r>
              <a:rPr lang="en-US" sz="46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685800" indent="-685800" algn="l">
              <a:lnSpc>
                <a:spcPts val="7605"/>
              </a:lnSpc>
              <a:buFont typeface="Arial" pitchFamily="34" charset="0"/>
              <a:buChar char="•"/>
            </a:pPr>
            <a:r>
              <a:rPr lang="en-US" sz="4665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Diagramgpt</a:t>
            </a:r>
            <a:r>
              <a:rPr lang="en-US" sz="46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685800" indent="-685800" algn="l">
              <a:lnSpc>
                <a:spcPts val="7605"/>
              </a:lnSpc>
              <a:buFont typeface="Arial" pitchFamily="34" charset="0"/>
              <a:buChar char="•"/>
            </a:pPr>
            <a:r>
              <a:rPr lang="en-US" sz="46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AI.</a:t>
            </a:r>
          </a:p>
          <a:p>
            <a:pPr algn="l">
              <a:lnSpc>
                <a:spcPts val="7605"/>
              </a:lnSpc>
            </a:pPr>
            <a:endParaRPr lang="en-US" sz="46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3474" y="841771"/>
            <a:ext cx="9937554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330" y="9794298"/>
            <a:ext cx="1020696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Masterminds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26461" y="2643950"/>
            <a:ext cx="16680801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6413"/>
              </a:lnSpc>
              <a:buFont typeface="Arial" pitchFamily="34" charset="0"/>
              <a:buChar char="•"/>
            </a:pPr>
            <a:r>
              <a:rPr lang="en-US" sz="3934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</a:t>
            </a:r>
            <a:r>
              <a:rPr lang="en-US" sz="39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Integration – Add support for voice queries via </a:t>
            </a:r>
            <a:r>
              <a:rPr lang="en-US" sz="3934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Alexa</a:t>
            </a:r>
            <a:r>
              <a:rPr lang="en-US" sz="39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Google Assistant, </a:t>
            </a:r>
            <a:r>
              <a:rPr lang="en-US" sz="3934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etc..</a:t>
            </a:r>
          </a:p>
          <a:p>
            <a:pPr marL="571500" indent="-571500">
              <a:lnSpc>
                <a:spcPts val="6413"/>
              </a:lnSpc>
              <a:buFont typeface="Arial" pitchFamily="34" charset="0"/>
              <a:buChar char="•"/>
            </a:pPr>
            <a:r>
              <a:rPr lang="en-US" sz="3934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</a:t>
            </a:r>
            <a:r>
              <a:rPr lang="en-US" sz="39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Emotion Detection – Analyze tone or sentiment to offer emotional or mental health support</a:t>
            </a:r>
            <a:r>
              <a:rPr lang="en-US" sz="3934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1500" indent="-571500">
              <a:lnSpc>
                <a:spcPts val="6413"/>
              </a:lnSpc>
              <a:buFont typeface="Arial" pitchFamily="34" charset="0"/>
              <a:buChar char="•"/>
            </a:pPr>
            <a:r>
              <a:rPr lang="en-US" sz="3934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Gamification</a:t>
            </a:r>
            <a:r>
              <a:rPr lang="en-US" sz="3934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Introduce quizzes, badges, and progress tracking to boost motivation</a:t>
            </a:r>
            <a:r>
              <a:rPr lang="en-US" sz="3934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393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58631" y="463512"/>
            <a:ext cx="8857072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(IF APPLICABLE)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Masterminds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829860"/>
            <a:ext cx="6172200" cy="347186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772" y="1829860"/>
            <a:ext cx="6133833" cy="345028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753100"/>
            <a:ext cx="6096000" cy="3429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755" y="5600700"/>
            <a:ext cx="6637866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9602" y="841771"/>
            <a:ext cx="10266947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5355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Masterminds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18161" y="2933700"/>
            <a:ext cx="17297400" cy="4847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88812" lvl="1" indent="-571500">
              <a:lnSpc>
                <a:spcPts val="6301"/>
              </a:lnSpc>
              <a:buFont typeface="Arial" pitchFamily="34" charset="0"/>
              <a:buChar char="•"/>
            </a:pP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386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technically feasible using current AI tools and platforms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988812" lvl="1" indent="-571500">
              <a:lnSpc>
                <a:spcPts val="6301"/>
              </a:lnSpc>
              <a:buFont typeface="Arial" pitchFamily="34" charset="0"/>
              <a:buChar char="•"/>
            </a:pP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viable in the education market due to high demand for digital support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988812" lvl="1" indent="-571500">
              <a:lnSpc>
                <a:spcPts val="6301"/>
              </a:lnSpc>
              <a:buFont typeface="Arial" pitchFamily="34" charset="0"/>
              <a:buChar char="•"/>
            </a:pP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experience through instant, accurate assistance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988812" lvl="1" indent="-571500">
              <a:lnSpc>
                <a:spcPts val="6301"/>
              </a:lnSpc>
              <a:buFont typeface="Arial" pitchFamily="34" charset="0"/>
              <a:buChar char="•"/>
            </a:pP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staff workload by automating common queries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988812" lvl="1" indent="-571500">
              <a:lnSpc>
                <a:spcPts val="6301"/>
              </a:lnSpc>
              <a:buFont typeface="Arial" pitchFamily="34" charset="0"/>
              <a:buChar char="•"/>
            </a:pP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Cost-effective 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scalable, especially with phased development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988812" lvl="1" indent="-571500">
              <a:lnSpc>
                <a:spcPts val="6301"/>
              </a:lnSpc>
              <a:buFont typeface="Arial" pitchFamily="34" charset="0"/>
              <a:buChar char="•"/>
            </a:pP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sustainability through regular updates and learning</a:t>
            </a:r>
            <a:r>
              <a:rPr lang="en-US" sz="386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57800" y="7781181"/>
            <a:ext cx="630833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9600" b="1" dirty="0" smtClean="0"/>
              <a:t>THANK YOU</a:t>
            </a:r>
            <a:endParaRPr lang="en-IN" sz="9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590</Words>
  <Application>Microsoft Office PowerPoint</Application>
  <PresentationFormat>Custom</PresentationFormat>
  <Paragraphs>88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Poppins Semi-Bold</vt:lpstr>
      <vt:lpstr>Times New Roman Bold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Pink Gradient Modern Minimalist Computer Technology Presentation</dc:title>
  <dc:creator>muralikrishna voora</dc:creator>
  <cp:lastModifiedBy>user</cp:lastModifiedBy>
  <cp:revision>18</cp:revision>
  <dcterms:created xsi:type="dcterms:W3CDTF">2006-08-16T00:00:00Z</dcterms:created>
  <dcterms:modified xsi:type="dcterms:W3CDTF">2025-04-30T10:14:18Z</dcterms:modified>
  <dc:identifier>DAGmCImH0yY</dc:identifier>
</cp:coreProperties>
</file>